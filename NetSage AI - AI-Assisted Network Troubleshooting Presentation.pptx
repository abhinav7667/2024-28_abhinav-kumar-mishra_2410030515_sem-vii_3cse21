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4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41.png"/><Relationship Id="rId15" Type="http://schemas.openxmlformats.org/officeDocument/2006/relationships/image" Target="../media/image42.png"/><Relationship Id="rId16" Type="http://schemas.openxmlformats.org/officeDocument/2006/relationships/image" Target="../media/image43.png"/><Relationship Id="rId17" Type="http://schemas.openxmlformats.org/officeDocument/2006/relationships/image" Target="../media/image44.png"/><Relationship Id="rId18" Type="http://schemas.openxmlformats.org/officeDocument/2006/relationships/image" Target="../media/image45.png"/><Relationship Id="rId19" Type="http://schemas.openxmlformats.org/officeDocument/2006/relationships/image" Target="../media/image46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Relationship Id="rId24" Type="http://schemas.openxmlformats.org/officeDocument/2006/relationships/image" Target="../media/image51.png"/><Relationship Id="rId25" Type="http://schemas.openxmlformats.org/officeDocument/2006/relationships/image" Target="../media/image52.png"/><Relationship Id="rId26" Type="http://schemas.openxmlformats.org/officeDocument/2006/relationships/image" Target="../media/image53.png"/><Relationship Id="rId27" Type="http://schemas.openxmlformats.org/officeDocument/2006/relationships/image" Target="../media/image54.png"/><Relationship Id="rId28" Type="http://schemas.openxmlformats.org/officeDocument/2006/relationships/image" Target="../media/image5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4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image" Target="../media/image71.png"/><Relationship Id="rId20" Type="http://schemas.openxmlformats.org/officeDocument/2006/relationships/image" Target="../media/image72.png"/><Relationship Id="rId21" Type="http://schemas.openxmlformats.org/officeDocument/2006/relationships/image" Target="../media/image73.png"/><Relationship Id="rId22" Type="http://schemas.openxmlformats.org/officeDocument/2006/relationships/image" Target="../media/image74.png"/><Relationship Id="rId23" Type="http://schemas.openxmlformats.org/officeDocument/2006/relationships/image" Target="../media/image75.png"/><Relationship Id="rId24" Type="http://schemas.openxmlformats.org/officeDocument/2006/relationships/image" Target="../media/image7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4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4.png"/><Relationship Id="rId10" Type="http://schemas.openxmlformats.org/officeDocument/2006/relationships/image" Target="../media/image95.png"/><Relationship Id="rId11" Type="http://schemas.openxmlformats.org/officeDocument/2006/relationships/image" Target="../media/image96.png"/><Relationship Id="rId12" Type="http://schemas.openxmlformats.org/officeDocument/2006/relationships/image" Target="../media/image97.png"/><Relationship Id="rId13" Type="http://schemas.openxmlformats.org/officeDocument/2006/relationships/image" Target="../media/image98.png"/><Relationship Id="rId1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868" y="1676846"/>
            <a:ext cx="2862262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487" y="3909417"/>
            <a:ext cx="5153025" cy="733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6357937"/>
            <a:ext cx="11106150" cy="319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86362" y="4966692"/>
            <a:ext cx="44672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Plus Jakarta Sans"/>
              </a:rPr>
              <a:t> Cisco Show-Command Analysis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•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Responsible AI Safeguards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•</a:t>
            </a:r>
            <a:r>
              <a:rPr b="0" sz="975" i="0" u="none">
                <a:solidFill>
                  <a:srgbClr val="64748B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94A3B8"/>
                </a:solidFill>
                <a:latin typeface="Plus Jakarta Sans"/>
              </a:rPr>
              <a:t>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" y="6462712"/>
            <a:ext cx="38195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NetSage AI • B.Tech Computer Science and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34700" y="6462712"/>
            <a:ext cx="714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Slide 1 of 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5843" y="1762571"/>
            <a:ext cx="138112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95500" y="2248346"/>
            <a:ext cx="8001000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0" sz="4800" i="0" u="none">
                <a:solidFill>
                  <a:srgbClr val="FFFFFF"/>
                </a:solidFill>
                <a:latin typeface="Plus Jakarta Sans ExtraBold"/>
              </a:rPr>
              <a:t>NETSAGE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18817"/>
            <a:ext cx="7620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AI-Assisted Network Troubleshooting System with Deterministic Rule Validation &amp;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1912" y="4071342"/>
            <a:ext cx="1304925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 SemiBold"/>
              </a:rPr>
              <a:t>University</a:t>
            </a:r>
            <a:r>
              <a:rPr b="0" sz="1200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Plus Jakarta Sans SemiBold"/>
              </a:rPr>
              <a:t> IILM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1637" y="4071342"/>
            <a:ext cx="167640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 SemiBold"/>
              </a:rPr>
              <a:t>Student Name</a:t>
            </a:r>
            <a:r>
              <a:rPr b="0" sz="1200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Plus Jakarta Sans SemiBold"/>
              </a:rPr>
              <a:t> Abhinav Kumar Mishra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62837" y="4071342"/>
            <a:ext cx="857250" cy="4095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 SemiBold"/>
              </a:rPr>
              <a:t>Student ID</a:t>
            </a:r>
            <a:r>
              <a:rPr b="0" sz="1200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b="0" sz="1200" i="0" u="none">
                <a:solidFill>
                  <a:srgbClr val="E2E8F0"/>
                </a:solidFill>
                <a:latin typeface="Plus Jakarta Sans SemiBold"/>
              </a:rPr>
              <a:t>2410030515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8412" y="5004792"/>
            <a:ext cx="18097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1162" y="5004792"/>
            <a:ext cx="1428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3862" y="5004792"/>
            <a:ext cx="1809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1912" y="4304704"/>
            <a:ext cx="1428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1637" y="4304704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826418"/>
            <a:ext cx="11106150" cy="933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007518"/>
            <a:ext cx="5438775" cy="2676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007518"/>
            <a:ext cx="5438775" cy="2676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6357937"/>
            <a:ext cx="11106150" cy="319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925" y="428625"/>
            <a:ext cx="1581150" cy="2809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2925" y="6462712"/>
            <a:ext cx="38195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NetSage AI • B.Tech Computer Science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6125" y="6462712"/>
            <a:ext cx="742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Slide 2 of 6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8670" y="1969293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7208" y="2445543"/>
            <a:ext cx="962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Plus Jakarta Sans SemiBold"/>
              </a:rPr>
              <a:t>Network Problem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9840" y="2235993"/>
            <a:ext cx="8572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7485" y="1969293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87935" y="2445543"/>
            <a:ext cx="838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Plus Jakarta Sans SemiBold"/>
              </a:rPr>
              <a:t>Cisco Evidence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8655" y="2235993"/>
            <a:ext cx="85725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6301" y="1969293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62476" y="2445543"/>
            <a:ext cx="666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Plus Jakarta Sans SemiBold"/>
              </a:rPr>
              <a:t>AI Diagnosis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7470" y="2235993"/>
            <a:ext cx="857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5116" y="1969293"/>
            <a:ext cx="41910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75091" y="2445543"/>
            <a:ext cx="8191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Plus Jakarta Sans SemiBold"/>
              </a:rPr>
              <a:t>Rule Validation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36285" y="2235993"/>
            <a:ext cx="8572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63931" y="1969293"/>
            <a:ext cx="419100" cy="419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68669" y="2445543"/>
            <a:ext cx="809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Plus Jakarta Sans SemiBold"/>
              </a:rPr>
              <a:t>Human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325" y="3226593"/>
            <a:ext cx="488061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FECACA"/>
                </a:solidFill>
                <a:latin typeface="Plus Jakarta Sans"/>
              </a:rPr>
              <a:t>The Troubleshooting Challenge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3700" y="3226593"/>
            <a:ext cx="488061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BAE6FD"/>
                </a:solidFill>
                <a:latin typeface="Plus Jakarta Sans"/>
              </a:rPr>
              <a:t>Project Objectives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2495" y="2093118"/>
            <a:ext cx="17145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1785" y="2093118"/>
            <a:ext cx="19050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10126" y="2093118"/>
            <a:ext cx="1714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8941" y="2093118"/>
            <a:ext cx="17145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63944" y="2093118"/>
            <a:ext cx="219075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8675" y="3250406"/>
            <a:ext cx="171450" cy="171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8700" y="3559968"/>
            <a:ext cx="46958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94A3B8"/>
                </a:solidFill>
                <a:latin typeface="Plus Jakarta Sans"/>
              </a:rPr>
              <a:t>Complex Multi-Source Evidence:</a:t>
            </a:r>
            <a:r>
              <a:rPr b="0" sz="1087" i="0" u="none">
                <a:solidFill>
                  <a:srgbClr val="94A3B8"/>
                </a:solidFill>
                <a:latin typeface="Plus Jakarta Sans"/>
              </a:rPr>
              <a:t> Beginners struggle to correlate IP configs, topology maps, and Cisco show commands simultaneously.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" y="4298156"/>
            <a:ext cx="46958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94A3B8"/>
                </a:solidFill>
                <a:latin typeface="Plus Jakarta Sans"/>
              </a:rPr>
              <a:t>Risk of AI Hallucinations:</a:t>
            </a:r>
            <a:r>
              <a:rPr b="0" sz="1087" i="0" u="none">
                <a:solidFill>
                  <a:srgbClr val="94A3B8"/>
                </a:solidFill>
                <a:latin typeface="Plus Jakarta Sans"/>
              </a:rPr>
              <a:t> Pure LLM-based assistants can yield confident but technically flawed or unsupported network claims.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" y="4822031"/>
            <a:ext cx="46958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94A3B8"/>
                </a:solidFill>
                <a:latin typeface="Plus Jakarta Sans"/>
              </a:rPr>
              <a:t>Lack of Grounded Verification:</a:t>
            </a:r>
            <a:r>
              <a:rPr b="0" sz="1087" i="0" u="none">
                <a:solidFill>
                  <a:srgbClr val="94A3B8"/>
                </a:solidFill>
                <a:latin typeface="Plus Jakarta Sans"/>
              </a:rPr>
              <a:t> Generic chat tools offer advice without programmatic verification against known networking constraints.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96050" y="3250406"/>
            <a:ext cx="171450" cy="171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24650" y="3559968"/>
            <a:ext cx="4667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94A3B8"/>
                </a:solidFill>
                <a:latin typeface="Plus Jakarta Sans"/>
              </a:rPr>
              <a:t>Structured AI Analysis:</a:t>
            </a:r>
            <a:r>
              <a:rPr b="0" sz="1087" i="0" u="none">
                <a:solidFill>
                  <a:srgbClr val="94A3B8"/>
                </a:solidFill>
                <a:latin typeface="Plus Jakarta Sans"/>
              </a:rPr>
              <a:t> Extract probable root cause, confidence, supporting evidence, OSI layer, next command, and fix.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4650" y="4083843"/>
            <a:ext cx="4667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94A3B8"/>
                </a:solidFill>
                <a:latin typeface="Plus Jakarta Sans"/>
              </a:rPr>
              <a:t>Deterministic Python Validation:</a:t>
            </a:r>
            <a:r>
              <a:rPr b="0" sz="1087" i="0" u="none">
                <a:solidFill>
                  <a:srgbClr val="94A3B8"/>
                </a:solidFill>
                <a:latin typeface="Plus Jakarta Sans"/>
              </a:rPr>
              <a:t> Verify known technical conditions (gateways, VLANs, IPs) independently from the AI.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4650" y="4607718"/>
            <a:ext cx="46672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94A3B8"/>
                </a:solidFill>
                <a:latin typeface="Plus Jakarta Sans"/>
              </a:rPr>
              <a:t>Human-in-the-Loop Governance:</a:t>
            </a:r>
            <a:r>
              <a:rPr b="0" sz="1087" i="0" u="none">
                <a:solidFill>
                  <a:srgbClr val="94A3B8"/>
                </a:solidFill>
                <a:latin typeface="Plus Jakarta Sans"/>
              </a:rPr>
              <a:t> Provide an explicit Accept / Edit / Reject workflow to uphold Responsible AI principles.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675" y="3583781"/>
            <a:ext cx="8572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675" y="4321968"/>
            <a:ext cx="8572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675" y="4845843"/>
            <a:ext cx="8572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6050" y="3583781"/>
            <a:ext cx="114300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6050" y="4107656"/>
            <a:ext cx="114300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96050" y="4631531"/>
            <a:ext cx="114300" cy="14287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42925" y="428625"/>
            <a:ext cx="11106150" cy="290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94A3B8"/>
                </a:solidFill>
                <a:latin typeface="Plus Jakarta Sans"/>
              </a:rPr>
              <a:t>Problem Statement &amp; Objectives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2925" y="842962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23926"/>
            <a:ext cx="5438775" cy="32626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123926"/>
            <a:ext cx="5438775" cy="2305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4562326"/>
            <a:ext cx="5438775" cy="8242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3928913"/>
            <a:ext cx="2414587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9937" y="3928913"/>
            <a:ext cx="2414587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2666851"/>
            <a:ext cx="1577875" cy="723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0600" y="2666851"/>
            <a:ext cx="1578024" cy="723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3875" y="2666851"/>
            <a:ext cx="1578024" cy="723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7475" y="3486001"/>
            <a:ext cx="1577875" cy="723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0600" y="3486001"/>
            <a:ext cx="1578024" cy="723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3875" y="3486001"/>
            <a:ext cx="1578024" cy="723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6357937"/>
            <a:ext cx="11106150" cy="319087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3650" y="428625"/>
            <a:ext cx="1495425" cy="28098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2925" y="6462712"/>
            <a:ext cx="38195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NetSage AI • B.Tech Computer Science and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6125" y="6462712"/>
            <a:ext cx="742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Slide 3 of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2343001"/>
            <a:ext cx="490061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E2E8F0"/>
                </a:solidFill>
                <a:latin typeface="Plus Jakarta Sans"/>
              </a:rPr>
              <a:t>End-to-End System Pipeline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2366813"/>
            <a:ext cx="18097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2685901"/>
            <a:ext cx="4924425" cy="402431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3307407"/>
            <a:ext cx="4924425" cy="402431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4662338"/>
            <a:ext cx="4924425" cy="40243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24650" y="2343001"/>
            <a:ext cx="4900612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E2E8F0"/>
                </a:solidFill>
                <a:latin typeface="Plus Jakarta Sans"/>
              </a:rPr>
              <a:t>Technology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4705201"/>
            <a:ext cx="5038725" cy="53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b="1" sz="975" i="0" u="none">
                <a:solidFill>
                  <a:srgbClr val="38BDF8"/>
                </a:solidFill>
                <a:latin typeface="Plus Jakarta Sans"/>
              </a:rPr>
              <a:t>Architectural Role: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 The Flask backend acts as the central coordinator, mediating between the web frontend, the SQLite case repository, the LLM diagnostic service, the deterministic rule engine, and human governance.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75" y="2790676"/>
            <a:ext cx="1104900" cy="192881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1F5F9"/>
                </a:solidFill>
                <a:latin typeface="Plus Jakarta Sans SemiBold"/>
              </a:rPr>
              <a:t>User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8550" y="2801391"/>
            <a:ext cx="19431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Web Dashboard (HTML5 / CSS3 / JS)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19450" y="3145482"/>
            <a:ext cx="85725" cy="1143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2975" y="3412182"/>
            <a:ext cx="1447800" cy="192881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1F5F9"/>
                </a:solidFill>
                <a:latin typeface="Plus Jakarta Sans SemiBold"/>
              </a:rPr>
              <a:t>Flask Core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850" y="3422898"/>
            <a:ext cx="1447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REST API &amp; SQLite Storage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19450" y="3766988"/>
            <a:ext cx="85725" cy="1143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19450" y="4500413"/>
            <a:ext cx="85725" cy="1143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2975" y="4767113"/>
            <a:ext cx="1600200" cy="192881"/>
          </a:xfrm>
          <a:prstGeom prst="rect">
            <a:avLst/>
          </a:prstGeom>
          <a:noFill/>
        </p:spPr>
        <p:txBody>
          <a:bodyPr wrap="square" lIns="238125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F1F5F9"/>
                </a:solidFill>
                <a:latin typeface="Plus Jakarta Sans SemiBold"/>
              </a:rPr>
              <a:t>Human Review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9600" y="4777829"/>
            <a:ext cx="11620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FDE68A"/>
                </a:solidFill>
                <a:latin typeface="Plus Jakarta Sans"/>
              </a:rPr>
              <a:t>Accept • Edit • Reject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67475" y="2366813"/>
            <a:ext cx="180975" cy="1619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2975" y="2828776"/>
            <a:ext cx="142875" cy="128587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2975" y="3450282"/>
            <a:ext cx="133350" cy="12858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04875" y="4033688"/>
            <a:ext cx="2205037" cy="1524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C7D2FE"/>
                </a:solidFill>
                <a:latin typeface="Plus Jakarta Sans"/>
              </a:rPr>
              <a:t>AI Diagnosis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4875" y="4214663"/>
            <a:ext cx="220503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LLM Evidence Interpretation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4712" y="4033688"/>
            <a:ext cx="2205037" cy="1524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A7F3D0"/>
                </a:solidFill>
                <a:latin typeface="Plus Jakarta Sans"/>
              </a:rPr>
              <a:t>Rule Checker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4712" y="4214663"/>
            <a:ext cx="220503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"/>
              </a:rPr>
              <a:t>Deterministic Validation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2975" y="4805213"/>
            <a:ext cx="161925" cy="128587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70687" y="2771626"/>
            <a:ext cx="171450" cy="1905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72250" y="3009751"/>
            <a:ext cx="1368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1F5F9"/>
                </a:solidFill>
                <a:latin typeface="Plus Jakarta Sans SemiBold"/>
              </a:rPr>
              <a:t>Python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2250" y="3162151"/>
            <a:ext cx="13683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Core Backend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43813" y="2771626"/>
            <a:ext cx="171450" cy="1905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245375" y="3009751"/>
            <a:ext cx="136847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1F5F9"/>
                </a:solidFill>
                <a:latin typeface="Plus Jakarta Sans SemiBold"/>
              </a:rPr>
              <a:t>Flask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5375" y="3162151"/>
            <a:ext cx="1368474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REST Framework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17088" y="2771626"/>
            <a:ext cx="171450" cy="1905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918650" y="3009751"/>
            <a:ext cx="136847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1F5F9"/>
                </a:solidFill>
                <a:latin typeface="Plus Jakarta Sans SemiBold"/>
              </a:rPr>
              <a:t>SQLite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18650" y="3162151"/>
            <a:ext cx="1368474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Case Database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84975" y="3590776"/>
            <a:ext cx="142875" cy="1905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572250" y="3828901"/>
            <a:ext cx="13683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1F5F9"/>
                </a:solidFill>
                <a:latin typeface="Plus Jakarta Sans SemiBold"/>
              </a:rPr>
              <a:t>HTML / JS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72250" y="3981301"/>
            <a:ext cx="13683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Web Frontend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10476" y="3590776"/>
            <a:ext cx="238125" cy="1905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245375" y="3828901"/>
            <a:ext cx="136847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1F5F9"/>
                </a:solidFill>
                <a:latin typeface="Plus Jakarta Sans SemiBold"/>
              </a:rPr>
              <a:t>AI / LLM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5375" y="3981301"/>
            <a:ext cx="1368474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Diagnosis Service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07563" y="3590776"/>
            <a:ext cx="190500" cy="1905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918650" y="3828901"/>
            <a:ext cx="136847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F1F5F9"/>
                </a:solidFill>
                <a:latin typeface="Plus Jakarta Sans SemiBold"/>
              </a:rPr>
              <a:t>Pytest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18650" y="3981301"/>
            <a:ext cx="1368474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Plus Jakarta Sans"/>
              </a:rPr>
              <a:t>Test Automation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69243" y="4052738"/>
            <a:ext cx="123825" cy="123825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50506" y="4052738"/>
            <a:ext cx="104775" cy="12382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42925" y="428625"/>
            <a:ext cx="11106150" cy="290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94A3B8"/>
                </a:solidFill>
                <a:latin typeface="Plus Jakarta Sans"/>
              </a:rPr>
              <a:t>System Architecture &amp; Technology Stack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2925" y="842962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085975"/>
            <a:ext cx="11106150" cy="1095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3371850"/>
            <a:ext cx="5438775" cy="20526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371850"/>
            <a:ext cx="5438775" cy="20526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14600"/>
            <a:ext cx="1464022" cy="504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3172" y="2514600"/>
            <a:ext cx="1464171" cy="504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3543" y="2514600"/>
            <a:ext cx="1464171" cy="504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3914" y="2514600"/>
            <a:ext cx="1464022" cy="504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4136" y="2514600"/>
            <a:ext cx="1464171" cy="504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4507" y="2514600"/>
            <a:ext cx="1464171" cy="504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4878" y="2514600"/>
            <a:ext cx="1464022" cy="504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925" y="6357937"/>
            <a:ext cx="11106150" cy="319087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4100" y="428625"/>
            <a:ext cx="1704975" cy="28098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2925" y="6462712"/>
            <a:ext cx="38195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NetSage AI • B.Tech Computer Science and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6125" y="6462712"/>
            <a:ext cx="742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Slide 4 of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714" y="2247900"/>
            <a:ext cx="1049833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STANDARDIZED 7-FIELD STRUCTURED DIAGNOSIS OUTPUT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2262187"/>
            <a:ext cx="131564" cy="1238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6800" y="3590925"/>
            <a:ext cx="4890611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Dual-Engine Design Philosophy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4619625"/>
            <a:ext cx="4924425" cy="306585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07"/>
              </a:lnSpc>
            </a:pPr>
            <a:r>
              <a:rPr b="0" sz="862" i="0" u="none">
                <a:solidFill>
                  <a:srgbClr val="64748B"/>
                </a:solidFill>
                <a:latin typeface="Plus Jakarta Sans"/>
              </a:rPr>
              <a:t>Note: The 35 cases serve as structured knowledge and evaluation instances, not ML training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2619375"/>
            <a:ext cx="129257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01. ROOT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2771775"/>
            <a:ext cx="129257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F1F5F9"/>
                </a:solidFill>
                <a:latin typeface="Plus Jakarta Sans SemiBold"/>
              </a:rPr>
              <a:t>Probable 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68897" y="2619375"/>
            <a:ext cx="1292721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02.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8897" y="2771775"/>
            <a:ext cx="129272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4D399"/>
                </a:solidFill>
                <a:latin typeface="Plus Jakarta Sans SemiBold"/>
              </a:rPr>
              <a:t>High / Med / 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09268" y="2619375"/>
            <a:ext cx="1292721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03.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9268" y="2771775"/>
            <a:ext cx="129272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F1F5F9"/>
                </a:solidFill>
                <a:latin typeface="Plus Jakarta Sans SemiBold"/>
              </a:rPr>
              <a:t>Cisco Excerpts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9639" y="2619375"/>
            <a:ext cx="129257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04. OSI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639" y="2771775"/>
            <a:ext cx="129257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818CF8"/>
                </a:solidFill>
                <a:latin typeface="Plus Jakarta Sans SemiBold"/>
              </a:rPr>
              <a:t>L1 - L7 Mapping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9861" y="2619375"/>
            <a:ext cx="1292721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05. CONCEPT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9861" y="2771775"/>
            <a:ext cx="129272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F1F5F9"/>
                </a:solidFill>
                <a:latin typeface="Plus Jakarta Sans SemiBold"/>
              </a:rPr>
              <a:t>Networking Topic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0232" y="2619375"/>
            <a:ext cx="1292721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06. COMMAND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0232" y="2771775"/>
            <a:ext cx="129272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38BDF8"/>
                </a:solidFill>
                <a:latin typeface="Plus Jakarta Sans SemiBold"/>
              </a:rPr>
              <a:t>Next Diagnostic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70603" y="2619375"/>
            <a:ext cx="129257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07. FIX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0603" y="2771775"/>
            <a:ext cx="129257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FBBF24"/>
                </a:solidFill>
                <a:latin typeface="Plus Jakarta Sans SemiBold"/>
              </a:rPr>
              <a:t>Resolution Step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3614737"/>
            <a:ext cx="190500" cy="152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34175" y="3595687"/>
            <a:ext cx="2130266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Evaluation Knowledge Base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44125" y="3590925"/>
            <a:ext cx="1247775" cy="2095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7475" y="3895725"/>
            <a:ext cx="1173956" cy="2857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7631" y="3895725"/>
            <a:ext cx="1173956" cy="2857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67787" y="3895725"/>
            <a:ext cx="1173956" cy="2857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17943" y="3895725"/>
            <a:ext cx="1173956" cy="2857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67475" y="4257675"/>
            <a:ext cx="1173956" cy="2857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717631" y="4257675"/>
            <a:ext cx="1173956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67787" y="4257675"/>
            <a:ext cx="1173956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17943" y="4257675"/>
            <a:ext cx="1173956" cy="2857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67475" y="4648200"/>
            <a:ext cx="114300" cy="109537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42975" y="3933825"/>
            <a:ext cx="17811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1" sz="1012" i="0" u="none">
                <a:solidFill>
                  <a:srgbClr val="C7D2FE"/>
                </a:solidFill>
                <a:latin typeface="Plus Jakarta Sans"/>
              </a:rPr>
              <a:t>AI Component (LLM-based):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975" y="4136231"/>
            <a:ext cx="4781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Flexible interpretation and contextual explanation of non-standard symptom descriptions and logs.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2975" y="4631531"/>
            <a:ext cx="13335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1" sz="1012" i="0" u="none">
                <a:solidFill>
                  <a:srgbClr val="A7F3D0"/>
                </a:solidFill>
                <a:latin typeface="Plus Jakarta Sans"/>
              </a:rPr>
              <a:t>Python Rule Checker: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2975" y="4833937"/>
            <a:ext cx="47815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94A3B8"/>
                </a:solidFill>
                <a:latin typeface="Plus Jakarta Sans"/>
              </a:rPr>
              <a:t>Strict, deterministic programmatic verification of known network faults (IPs, subnets, interface states, VLANs).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67475" y="3619500"/>
            <a:ext cx="190500" cy="1524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42925" y="428625"/>
            <a:ext cx="11106150" cy="290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94A3B8"/>
                </a:solidFill>
                <a:latin typeface="Plus Jakarta Sans"/>
              </a:rPr>
              <a:t>AI-Assisted Diagnosis Workflow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2925" y="842962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386012"/>
            <a:ext cx="5457825" cy="2738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386012"/>
            <a:ext cx="5457825" cy="1624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4143375"/>
            <a:ext cx="5457825" cy="8715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4419600"/>
            <a:ext cx="4943475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905125"/>
            <a:ext cx="2490787" cy="962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987" y="2905125"/>
            <a:ext cx="2490787" cy="962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2933700"/>
            <a:ext cx="4943475" cy="657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3667125"/>
            <a:ext cx="4943475" cy="657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6357937"/>
            <a:ext cx="11106150" cy="31908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3600" y="428625"/>
            <a:ext cx="1895475" cy="2809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2925" y="6462712"/>
            <a:ext cx="38195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NetSage AI • B.Tech Computer Science and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6125" y="6462712"/>
            <a:ext cx="742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Slide 5 of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28887"/>
            <a:ext cx="5095875" cy="2238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 </a:t>
            </a:r>
            <a:r>
              <a:rPr b="0" sz="825" i="0" u="none">
                <a:solidFill>
                  <a:srgbClr val="64748B"/>
                </a:solidFill>
                <a:latin typeface="JetBrains Mono"/>
              </a:rPr>
              <a:t> </a:t>
            </a:r>
            <a:r>
              <a:rPr b="1" sz="825" i="0" u="none">
                <a:solidFill>
                  <a:srgbClr val="94A3B8"/>
                </a:solidFill>
                <a:latin typeface="JetBrains Mono"/>
              </a:rPr>
              <a:t>INPUT CONFIGURATION 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900" y="2800350"/>
            <a:ext cx="50958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950" y="4286250"/>
            <a:ext cx="5076825" cy="15240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BBF24"/>
                </a:solidFill>
                <a:latin typeface="Plus Jakarta Sans"/>
              </a:rPr>
              <a:t>Subnet Analysis: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476750"/>
            <a:ext cx="50768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E2E8F0"/>
                </a:solidFill>
                <a:latin typeface="Plus Jakarta Sans"/>
              </a:rPr>
              <a:t>PC Subnet: </a:t>
            </a:r>
            <a:r>
              <a:rPr b="0" sz="975" i="0" u="none">
                <a:solidFill>
                  <a:srgbClr val="E2E8F0"/>
                </a:solidFill>
                <a:latin typeface="Plus Jakarta Sans"/>
              </a:rPr>
              <a:t>192.168.10.0/24</a:t>
            </a:r>
            <a:r>
              <a:rPr b="0" sz="975" i="0" u="none">
                <a:solidFill>
                  <a:srgbClr val="E2E8F0"/>
                </a:solidFill>
                <a:latin typeface="Plus Jakarta Sans"/>
              </a:rPr>
              <a:t> • Configured GW: </a:t>
            </a:r>
            <a:r>
              <a:rPr b="0" sz="975" i="0" u="none">
                <a:solidFill>
                  <a:srgbClr val="E2E8F0"/>
                </a:solidFill>
                <a:latin typeface="Plus Jakarta Sans"/>
              </a:rPr>
              <a:t>192.168.20.1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4700587"/>
            <a:ext cx="50768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Plus Jakarta Sans"/>
              </a:rPr>
              <a:t>→ The default gateway is located outside the local broadcast domain / subnet.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1100" y="2605087"/>
            <a:ext cx="2720340" cy="214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Plus Jakarta Sans"/>
              </a:rPr>
              <a:t> System Diagnosis &amp; Agreement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9375" y="4538662"/>
            <a:ext cx="10096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4305300"/>
            <a:ext cx="95250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96475" y="2605087"/>
            <a:ext cx="1495425" cy="2143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91300" y="4524375"/>
            <a:ext cx="18288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EE7B7"/>
                </a:solidFill>
                <a:latin typeface="Plus Jakarta Sans"/>
              </a:rPr>
              <a:t>HUMAN REVIEW VERDICT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1300" y="4648200"/>
            <a:ext cx="1828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1F5F9"/>
                </a:solidFill>
                <a:latin typeface="Plus Jakarta Sans SemiBold"/>
              </a:rPr>
              <a:t>Diagnosis Verified &amp; Accepted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25" y="4605337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0100" y="2981325"/>
            <a:ext cx="23383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38BDF8"/>
                </a:solidFill>
                <a:latin typeface="JetBrains Mono"/>
              </a:rPr>
              <a:t>Host: PC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3190875"/>
            <a:ext cx="2338387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JetBrains Mono"/>
              </a:rPr>
              <a:t>IP: </a:t>
            </a:r>
            <a:r>
              <a:rPr b="0" sz="900" i="0" u="none">
                <a:solidFill>
                  <a:srgbClr val="38BDF8"/>
                </a:solidFill>
                <a:latin typeface="JetBrains Mono"/>
              </a:rPr>
              <a:t>192.168.10.50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3405187"/>
            <a:ext cx="23383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JetBrains Mono"/>
              </a:rPr>
              <a:t>Mask: 255.255.255.0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" y="3576637"/>
            <a:ext cx="2338387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JetBrains Mono"/>
              </a:rPr>
              <a:t>Gateway: </a:t>
            </a:r>
            <a:r>
              <a:rPr b="1" sz="900" i="0" u="none">
                <a:solidFill>
                  <a:srgbClr val="F87171"/>
                </a:solidFill>
                <a:latin typeface="JetBrains Mono"/>
              </a:rPr>
              <a:t>192.168.20.1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5187" y="2981325"/>
            <a:ext cx="23383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38BDF8"/>
                </a:solidFill>
                <a:latin typeface="JetBrains Mono"/>
              </a:rPr>
              <a:t>Router Interfaces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5187" y="3190875"/>
            <a:ext cx="2338387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JetBrains Mono"/>
              </a:rPr>
              <a:t>G0/0: </a:t>
            </a:r>
            <a:r>
              <a:rPr b="0" sz="900" i="0" u="none">
                <a:solidFill>
                  <a:srgbClr val="34D399"/>
                </a:solidFill>
                <a:latin typeface="JetBrains Mono"/>
              </a:rPr>
              <a:t>192.168.10.1</a:t>
            </a:r>
            <a:r>
              <a:rPr b="0" sz="900" i="0" u="none">
                <a:solidFill>
                  <a:srgbClr val="CBD5E1"/>
                </a:solidFill>
                <a:latin typeface="JetBrains Mono"/>
              </a:rPr>
              <a:t> (LAN)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5187" y="3405187"/>
            <a:ext cx="23383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JetBrains Mono"/>
              </a:rPr>
              <a:t>G0/1: 192.168.20.1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5187" y="3576637"/>
            <a:ext cx="23383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CBD5E1"/>
                </a:solidFill>
                <a:latin typeface="JetBrains Mono"/>
              </a:rPr>
              <a:t>Status: Up / Up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2643187"/>
            <a:ext cx="104775" cy="142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62725" y="3028950"/>
            <a:ext cx="47148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AI Diagnosis:</a:t>
            </a:r>
            <a:r>
              <a:rPr b="0" sz="975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F1F5F9"/>
                </a:solidFill>
                <a:latin typeface="Plus Jakarta Sans SemiBold"/>
              </a:rPr>
              <a:t>Gateway outside host subnet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2725" y="3281362"/>
            <a:ext cx="47148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AI Confidence:</a:t>
            </a:r>
            <a:r>
              <a:rPr b="0" sz="975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34D399"/>
                </a:solidFill>
                <a:latin typeface="Plus Jakarta Sans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2725" y="3762375"/>
            <a:ext cx="47148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Deterministic Rule:</a:t>
            </a:r>
            <a:r>
              <a:rPr b="0" sz="975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F87171"/>
                </a:solidFill>
                <a:latin typeface="Plus Jakarta Sans"/>
              </a:rPr>
              <a:t>Gateway Mismatch → 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2725" y="4014787"/>
            <a:ext cx="47148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Recommended Fix:</a:t>
            </a:r>
            <a:r>
              <a:rPr b="0" sz="975" i="0" u="none">
                <a:solidFill>
                  <a:srgbClr val="F1F5F9"/>
                </a:solidFill>
                <a:latin typeface="Plus Jakarta Sans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Plus Jakarta Sans SemiBold"/>
              </a:rPr>
              <a:t>Set Default Gateway to 192.168.10.1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925" y="428625"/>
            <a:ext cx="11106150" cy="290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94A3B8"/>
                </a:solidFill>
                <a:latin typeface="Plus Jakarta Sans"/>
              </a:rPr>
              <a:t>Live Case: Gateway Mismatch Diagnosis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2925" y="842962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5305425"/>
            <a:ext cx="11106150" cy="3952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809750"/>
            <a:ext cx="2662237" cy="962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7562" y="1809750"/>
            <a:ext cx="2662237" cy="962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809750"/>
            <a:ext cx="2662237" cy="962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6837" y="1809750"/>
            <a:ext cx="2662237" cy="962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3000375"/>
            <a:ext cx="5438775" cy="2095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000375"/>
            <a:ext cx="5438775" cy="2095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6357937"/>
            <a:ext cx="11106150" cy="31908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5950" y="428625"/>
            <a:ext cx="2143125" cy="2809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2925" y="6462712"/>
            <a:ext cx="38195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NetSage AI • B.Tech Computer Science and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06125" y="6462712"/>
            <a:ext cx="742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Slide 6 of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5410200"/>
            <a:ext cx="107442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1" u="none">
                <a:solidFill>
                  <a:srgbClr val="E0F2FE"/>
                </a:solidFill>
                <a:latin typeface="Plus Jakarta Sans Medium"/>
              </a:rPr>
              <a:t>"NetSage AI demonstrates how AI can assist network troubleshooting while keeping evidence, deterministic validation, and human oversight at the center of the decision process."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4968" y="2009775"/>
            <a:ext cx="4381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b="0" sz="2850" i="0" u="none">
                <a:solidFill>
                  <a:srgbClr val="38BDF8"/>
                </a:solidFill>
                <a:latin typeface="JetBrains Mono ExtraBold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8256" y="2447925"/>
            <a:ext cx="1171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EVALUATION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9143" y="2009775"/>
            <a:ext cx="2190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b="0" sz="2850" i="0" u="none">
                <a:solidFill>
                  <a:srgbClr val="818CF8"/>
                </a:solidFill>
                <a:latin typeface="JetBrains Mono ExtraBold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3831" y="2447925"/>
            <a:ext cx="1409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NETWORK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5631" y="2009775"/>
            <a:ext cx="10953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b="0" sz="2850" i="0" u="none">
                <a:solidFill>
                  <a:srgbClr val="34D399"/>
                </a:solidFill>
                <a:latin typeface="JetBrains Mono ExtraBold"/>
              </a:rPr>
              <a:t>30/30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693" y="2447925"/>
            <a:ext cx="1619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AUTOMATED TESTS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08418" y="2009775"/>
            <a:ext cx="2190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b="0" sz="2850" i="0" u="none">
                <a:solidFill>
                  <a:srgbClr val="FBBF24"/>
                </a:solidFill>
                <a:latin typeface="JetBrains Mono Extra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9262" y="2447925"/>
            <a:ext cx="195738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 SemiBold"/>
              </a:rPr>
              <a:t>HUMAN CORRECTIONS TRACKED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" y="3181350"/>
            <a:ext cx="5010626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Responsible AI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7975" y="3181350"/>
            <a:ext cx="5010626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Future Scope &amp; Enhancements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205162"/>
            <a:ext cx="1524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9650" y="3476625"/>
            <a:ext cx="47529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94A3B8"/>
                </a:solidFill>
                <a:latin typeface="Plus Jakarta Sans"/>
              </a:rPr>
              <a:t>Evidence-Grounded:</a:t>
            </a:r>
            <a:r>
              <a:rPr b="0" sz="1012" i="0" u="none">
                <a:solidFill>
                  <a:srgbClr val="94A3B8"/>
                </a:solidFill>
                <a:latin typeface="Plus Jakarta Sans"/>
              </a:rPr>
              <a:t> AI diagnoses must point to specific lines of command output.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650" y="3981450"/>
            <a:ext cx="47529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94A3B8"/>
                </a:solidFill>
                <a:latin typeface="Plus Jakarta Sans"/>
              </a:rPr>
              <a:t>Dual-Check Safety:</a:t>
            </a:r>
            <a:r>
              <a:rPr b="0" sz="1012" i="0" u="none">
                <a:solidFill>
                  <a:srgbClr val="94A3B8"/>
                </a:solidFill>
                <a:latin typeface="Plus Jakarta Sans"/>
              </a:rPr>
              <a:t> Deterministic rules flag potential AI hallucinations or errors.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650" y="4486275"/>
            <a:ext cx="47529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1" sz="1012" i="0" u="none">
                <a:solidFill>
                  <a:srgbClr val="94A3B8"/>
                </a:solidFill>
                <a:latin typeface="Plus Jakarta Sans"/>
              </a:rPr>
              <a:t>Human Decision Authority:</a:t>
            </a:r>
            <a:r>
              <a:rPr b="0" sz="1012" i="0" u="none">
                <a:solidFill>
                  <a:srgbClr val="94A3B8"/>
                </a:solidFill>
                <a:latin typeface="Plus Jakarta Sans"/>
              </a:rPr>
              <a:t> Full Accept / Edit / Reject control with correction logging.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3205162"/>
            <a:ext cx="15240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96075" y="3476625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94A3B8"/>
                </a:solidFill>
                <a:latin typeface="Plus Jakarta Sans"/>
              </a:rPr>
              <a:t>Expand troubleshooting cases across multi-vendor CLI environments (e.g., Junos, Arista).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6075" y="3981450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94A3B8"/>
                </a:solidFill>
                <a:latin typeface="Plus Jakarta Sans"/>
              </a:rPr>
              <a:t>Integrate automated evidence extraction directly from live Packet Tracer / GNS3 APIs.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6075" y="4486275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b="0" sz="1012" i="0" u="none">
                <a:solidFill>
                  <a:srgbClr val="94A3B8"/>
                </a:solidFill>
                <a:latin typeface="Plus Jakarta Sans"/>
              </a:rPr>
              <a:t>Incorporate advanced confidence calibration and comprehensive telemetry analytics.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500437"/>
            <a:ext cx="133350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005262"/>
            <a:ext cx="133350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510087"/>
            <a:ext cx="133350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5" y="3500437"/>
            <a:ext cx="152400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5" y="4005262"/>
            <a:ext cx="152400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9375" y="4510087"/>
            <a:ext cx="152400" cy="1428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2925" y="428625"/>
            <a:ext cx="11106150" cy="290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94A3B8"/>
                </a:solidFill>
                <a:latin typeface="Plus Jakarta Sans"/>
              </a:rPr>
              <a:t>Results, Responsible AI &amp; Future Scope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2925" y="842962"/>
            <a:ext cx="111061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